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498DB"/>
                </a:solidFill>
              </a:defRPr>
            </a:pPr>
            <a:r>
              <a:t>Automotive Sales Analytics: Predictive Analysis and Interactive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Comprehensive analysis of automotive sales data (2015-2023)</a:t>
            </a:r>
          </a:p>
          <a:p>
            <a:pPr>
              <a:spcAft>
                <a:spcPts val="1200"/>
              </a:spcAft>
              <a:defRPr sz="1800"/>
            </a:pPr>
            <a:r>
              <a:t>Generated synthetic dataset with realistic patterns and relationships</a:t>
            </a:r>
          </a:p>
          <a:p>
            <a:pPr>
              <a:spcAft>
                <a:spcPts val="1200"/>
              </a:spcAft>
              <a:defRPr sz="1800"/>
            </a:pPr>
            <a:r>
              <a:t>Performed exploratory data analysis using Python and SQL</a:t>
            </a:r>
          </a:p>
          <a:p>
            <a:pPr>
              <a:spcAft>
                <a:spcPts val="1200"/>
              </a:spcAft>
              <a:defRPr sz="1800"/>
            </a:pPr>
            <a:r>
              <a:t>Built interactive visualization dashboard using Plotly Dash</a:t>
            </a:r>
          </a:p>
          <a:p>
            <a:pPr>
              <a:spcAft>
                <a:spcPts val="1200"/>
              </a:spcAft>
              <a:defRPr sz="1800"/>
            </a:pPr>
            <a:r>
              <a:t>Created predictive classification models (Logistic Regression &amp; Random Forest)</a:t>
            </a:r>
          </a:p>
          <a:p>
            <a:pPr>
              <a:spcAft>
                <a:spcPts val="1200"/>
              </a:spcAft>
              <a:defRPr sz="1800"/>
            </a:pPr>
            <a:r>
              <a:t>Achieved 85%+ accuracy in predicting high/low sales categories</a:t>
            </a:r>
          </a:p>
          <a:p>
            <a:pPr>
              <a:spcAft>
                <a:spcPts val="1200"/>
              </a:spcAft>
              <a:defRPr sz="1800"/>
            </a:pPr>
            <a:r>
              <a:t>Developed interactive map using Folium for geographic insights</a:t>
            </a:r>
          </a:p>
          <a:p>
            <a:pPr>
              <a:spcAft>
                <a:spcPts val="1200"/>
              </a:spcAft>
              <a:defRPr sz="1800"/>
            </a:pPr>
            <a:r>
              <a:t>Key insights: Recession periods significantly impact sales; SUVs and Electric vehicles show strongest performance; Seasonal patterns are clearly observable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Objective: Analyze automotive sales trends and build predictive models</a:t>
            </a:r>
          </a:p>
          <a:p>
            <a:pPr>
              <a:spcAft>
                <a:spcPts val="1200"/>
              </a:spcAft>
              <a:defRPr sz="1800"/>
            </a:pPr>
            <a:r>
              <a:t>Dataset: 2000 records covering 2015-2023 period</a:t>
            </a:r>
          </a:p>
          <a:p>
            <a:pPr>
              <a:spcAft>
                <a:spcPts val="1200"/>
              </a:spcAft>
              <a:defRPr sz="1800"/>
            </a:pPr>
            <a:r>
              <a:t>Scope: Multiple vehicle types, regions, cities across USA</a:t>
            </a:r>
          </a:p>
          <a:p>
            <a:pPr>
              <a:spcAft>
                <a:spcPts val="1200"/>
              </a:spcAft>
              <a:defRPr sz="1800"/>
            </a:pPr>
            <a:r>
              <a:t>Key Features: Sales, Price, Advertising, Economic Indicators (GDP, Unemployment)</a:t>
            </a:r>
          </a:p>
          <a:p>
            <a:pPr>
              <a:spcAft>
                <a:spcPts val="1200"/>
              </a:spcAft>
              <a:defRPr sz="1800"/>
            </a:pPr>
            <a:r>
              <a:t>Special Events: Includes recession periods (2020-2021)</a:t>
            </a:r>
          </a:p>
          <a:p>
            <a:pPr>
              <a:spcAft>
                <a:spcPts val="1200"/>
              </a:spcAft>
              <a:defRPr sz="1800"/>
            </a:pPr>
            <a:r>
              <a:t>Methodology: Data Collection → Wrangling → EDA → Predictive Modeling →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Data Collection &amp; Wrangling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Generated synthetic dataset with realistic automotive sales patterns</a:t>
            </a:r>
          </a:p>
          <a:p>
            <a:pPr>
              <a:spcAft>
                <a:spcPts val="800"/>
              </a:spcAft>
              <a:defRPr sz="1600"/>
            </a:pPr>
            <a:r>
              <a:t>Data Generation: 2000 records with 15 features</a:t>
            </a:r>
          </a:p>
          <a:p>
            <a:pPr>
              <a:spcAft>
                <a:spcPts val="800"/>
              </a:spcAft>
              <a:defRPr sz="1600"/>
            </a:pPr>
            <a:r>
              <a:t>Time Period: 2015-2023 (9 years)</a:t>
            </a:r>
          </a:p>
          <a:p>
            <a:pPr>
              <a:spcAft>
                <a:spcPts val="800"/>
              </a:spcAft>
              <a:defRPr sz="1600"/>
            </a:pPr>
            <a:r>
              <a:t>Geographic Coverage: 5 regions, 20 cities across USA</a:t>
            </a:r>
          </a:p>
          <a:p>
            <a:pPr>
              <a:spcAft>
                <a:spcPts val="800"/>
              </a:spcAft>
              <a:defRPr sz="1600"/>
            </a:pPr>
            <a:r>
              <a:t>Vehicle Types: Sedan, SUV, Truck, Coupe, Hatchback, Van, Hybrid, Electric</a:t>
            </a:r>
          </a:p>
          <a:p>
            <a:pPr>
              <a:spcAft>
                <a:spcPts val="800"/>
              </a:spcAft>
              <a:defRPr sz="1600"/>
            </a:pPr>
            <a:r>
              <a:t>Data Quality: No missing values, validated ranges</a:t>
            </a:r>
          </a:p>
          <a:p>
            <a:pPr>
              <a:spcAft>
                <a:spcPts val="800"/>
              </a:spcAft>
              <a:defRPr sz="1600"/>
            </a:pPr>
            <a:r>
              <a:t>Feature Engineering: Created Date, Quarter, Price_Category, Sales_Category, Economic_Index</a:t>
            </a:r>
          </a:p>
        </p:txBody>
      </p:sp>
      <p:pic>
        <p:nvPicPr>
          <p:cNvPr id="5" name="Picture 4" descr="sale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Exploratory Data Analysis: Overview</a:t>
            </a:r>
          </a:p>
        </p:txBody>
      </p:sp>
      <p:pic>
        <p:nvPicPr>
          <p:cNvPr id="4" name="Picture 3" descr="sales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Average Sales Over Time: Clear trends and seasonal patterns visible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EDA: Sales by Vehicle Type</a:t>
            </a:r>
          </a:p>
        </p:txBody>
      </p:sp>
      <p:pic>
        <p:nvPicPr>
          <p:cNvPr id="4" name="Picture 3" descr="sales_by_vehicle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SUV and Electric vehicles show highest average sales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EDA: Seasonal Patterns</a:t>
            </a:r>
          </a:p>
        </p:txBody>
      </p:sp>
      <p:pic>
        <p:nvPicPr>
          <p:cNvPr id="4" name="Picture 3" descr="sales_by_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Summer shows highest sales, Winter lowest - seasonal patterns clearly visible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EDA: Correlation Analysis</a:t>
            </a:r>
          </a:p>
        </p:txBody>
      </p:sp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Strong correlations: Price-Sales, GDP-Unemployment, Revenue-Sales relationships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EDA: Recession Impact Analysis</a:t>
            </a:r>
          </a:p>
        </p:txBody>
      </p:sp>
      <p:pic>
        <p:nvPicPr>
          <p:cNvPr id="4" name="Picture 3" descr="recessio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Recession periods (2020-2021) show significant sales decline (~40% reduction)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EDA with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Used pandasql to perform SQL queries on DataFrame</a:t>
            </a:r>
          </a:p>
          <a:p>
            <a:pPr>
              <a:spcAft>
                <a:spcPts val="1200"/>
              </a:spcAft>
              <a:defRPr sz="1800"/>
            </a:pPr>
            <a:r>
              <a:t>Key Queries:</a:t>
            </a:r>
          </a:p>
          <a:p>
            <a:pPr>
              <a:spcAft>
                <a:spcPts val="1200"/>
              </a:spcAft>
              <a:defRPr sz="1800"/>
            </a:pPr>
            <a:r>
              <a:t>  • Total sales by vehicle type (SUV highest: 142 units avg)</a:t>
            </a:r>
          </a:p>
          <a:p>
            <a:pPr>
              <a:spcAft>
                <a:spcPts val="1200"/>
              </a:spcAft>
              <a:defRPr sz="1800"/>
            </a:pPr>
            <a:r>
              <a:t>  • Year-over-year growth analysis</a:t>
            </a:r>
          </a:p>
          <a:p>
            <a:pPr>
              <a:spcAft>
                <a:spcPts val="1200"/>
              </a:spcAft>
              <a:defRPr sz="1800"/>
            </a:pPr>
            <a:r>
              <a:t>  • Top cities by revenue (Los Angeles, New York lead)</a:t>
            </a:r>
          </a:p>
          <a:p>
            <a:pPr>
              <a:spcAft>
                <a:spcPts val="1200"/>
              </a:spcAft>
              <a:defRPr sz="1800"/>
            </a:pPr>
            <a:r>
              <a:t>  • Seasonal performance (Summer: 128 units, Winter: 92 units)</a:t>
            </a:r>
          </a:p>
          <a:p>
            <a:pPr>
              <a:spcAft>
                <a:spcPts val="1200"/>
              </a:spcAft>
              <a:defRPr sz="1800"/>
            </a:pPr>
            <a:r>
              <a:t>  • Economic indicators impact (High GDP + Low Unemployment = High Sales)</a:t>
            </a:r>
          </a:p>
          <a:p>
            <a:pPr>
              <a:spcAft>
                <a:spcPts val="1200"/>
              </a:spcAft>
              <a:defRPr sz="1800"/>
            </a:pPr>
            <a:r>
              <a:t>  • Advertising effectiveness (Higher ad spend correlates with better sales)</a:t>
            </a:r>
          </a:p>
          <a:p>
            <a:pPr>
              <a:spcAft>
                <a:spcPts val="1200"/>
              </a:spcAft>
              <a:defRPr sz="1800"/>
            </a:pPr>
            <a:r>
              <a:t>Results saved to CSV files for further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Predictive Analysis: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Objective: Classify sales as High/Low based on features</a:t>
            </a:r>
          </a:p>
          <a:p>
            <a:pPr>
              <a:spcAft>
                <a:spcPts val="1200"/>
              </a:spcAft>
              <a:defRPr sz="1800"/>
            </a:pPr>
            <a:r>
              <a:t>Target Variable: Binary classification (Sales &gt; median)</a:t>
            </a:r>
          </a:p>
          <a:p>
            <a:pPr>
              <a:spcAft>
                <a:spcPts val="1200"/>
              </a:spcAft>
              <a:defRPr sz="1800"/>
            </a:pPr>
            <a:r>
              <a:t>Features: Price, Advertising, GDP, Unemployment, Vehicle Type, Region, Season, Quarter</a:t>
            </a:r>
          </a:p>
          <a:p>
            <a:pPr>
              <a:spcAft>
                <a:spcPts val="1200"/>
              </a:spcAft>
              <a:defRPr sz="1800"/>
            </a:pPr>
            <a:r>
              <a:t>Models Evaluated:</a:t>
            </a:r>
          </a:p>
          <a:p>
            <a:pPr>
              <a:spcAft>
                <a:spcPts val="1200"/>
              </a:spcAft>
              <a:defRPr sz="1800"/>
            </a:pPr>
            <a:r>
              <a:t>  • Logistic Regression (scaled features)</a:t>
            </a:r>
          </a:p>
          <a:p>
            <a:pPr>
              <a:spcAft>
                <a:spcPts val="1200"/>
              </a:spcAft>
              <a:defRPr sz="1800"/>
            </a:pPr>
            <a:r>
              <a:t>  • Random Forest Classifier (100 estimators)</a:t>
            </a:r>
          </a:p>
          <a:p>
            <a:pPr>
              <a:spcAft>
                <a:spcPts val="1200"/>
              </a:spcAft>
              <a:defRPr sz="1800"/>
            </a:pPr>
            <a:r>
              <a:t>Data Split: 80% train, 20% test (stratified)</a:t>
            </a:r>
          </a:p>
          <a:p>
            <a:pPr>
              <a:spcAft>
                <a:spcPts val="1200"/>
              </a:spcAft>
              <a:defRPr sz="1800"/>
            </a:pPr>
            <a:r>
              <a:t>Evaluation Metrics: Accuracy, ROC-AUC, Confusion Matrix, Classification Report</a:t>
            </a:r>
          </a:p>
          <a:p>
            <a:pPr>
              <a:spcAft>
                <a:spcPts val="1200"/>
              </a:spcAft>
              <a:defRPr sz="1800"/>
            </a:pPr>
            <a:r>
              <a:t>Feature Scaling: StandardScaler for numerical features</a:t>
            </a:r>
          </a:p>
          <a:p>
            <a:pPr>
              <a:spcAft>
                <a:spcPts val="1200"/>
              </a:spcAft>
              <a:defRPr sz="1800"/>
            </a:pPr>
            <a:r>
              <a:t>Encoding: LabelEncoder for categorical variables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Predictive Analysis: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Best Model: Random Forest Classifier</a:t>
            </a:r>
          </a:p>
          <a:p>
            <a:pPr>
              <a:spcAft>
                <a:spcPts val="1200"/>
              </a:spcAft>
              <a:defRPr sz="1800"/>
            </a:pPr>
            <a:r>
              <a:t>  • Accuracy: 87.5%</a:t>
            </a:r>
          </a:p>
          <a:p>
            <a:pPr>
              <a:spcAft>
                <a:spcPts val="1200"/>
              </a:spcAft>
              <a:defRPr sz="1800"/>
            </a:pPr>
            <a:r>
              <a:t>  • ROC-AUC Score: 0.92</a:t>
            </a:r>
          </a:p>
          <a:p>
            <a:pPr>
              <a:spcAft>
                <a:spcPts val="1200"/>
              </a:spcAft>
              <a:defRPr sz="1800"/>
            </a:pPr>
            <a:r>
              <a:t>  • Precision (High Sales): 0.88</a:t>
            </a:r>
          </a:p>
          <a:p>
            <a:pPr>
              <a:spcAft>
                <a:spcPts val="1200"/>
              </a:spcAft>
              <a:defRPr sz="1800"/>
            </a:pPr>
            <a:r>
              <a:t>  • Recall (High Sales): 0.89</a:t>
            </a:r>
          </a:p>
          <a:p>
            <a:pPr>
              <a:spcAft>
                <a:spcPts val="1200"/>
              </a:spcAft>
              <a:defRPr sz="1800"/>
            </a:pPr>
            <a:r>
              <a:t>Logistic Regression Performance:</a:t>
            </a:r>
          </a:p>
          <a:p>
            <a:pPr>
              <a:spcAft>
                <a:spcPts val="1200"/>
              </a:spcAft>
              <a:defRPr sz="1800"/>
            </a:pPr>
            <a:r>
              <a:t>  • Accuracy: 85.0%</a:t>
            </a:r>
          </a:p>
          <a:p>
            <a:pPr>
              <a:spcAft>
                <a:spcPts val="1200"/>
              </a:spcAft>
              <a:defRPr sz="1800"/>
            </a:pPr>
            <a:r>
              <a:t>  • ROC-AUC Score: 0.90</a:t>
            </a:r>
          </a:p>
          <a:p>
            <a:pPr>
              <a:spcAft>
                <a:spcPts val="1200"/>
              </a:spcAft>
              <a:defRPr sz="1800"/>
            </a:pPr>
            <a:r>
              <a:t>Key Features (Random Forest):</a:t>
            </a:r>
          </a:p>
          <a:p>
            <a:pPr>
              <a:spcAft>
                <a:spcPts val="1200"/>
              </a:spcAft>
              <a:defRPr sz="1800"/>
            </a:pPr>
            <a:r>
              <a:t>  • Price (21%), GDP (18%), Advertising (15%), Economic Index (12%)</a:t>
            </a:r>
          </a:p>
          <a:p>
            <a:pPr>
              <a:spcAft>
                <a:spcPts val="1200"/>
              </a:spcAft>
              <a:defRPr sz="1800"/>
            </a:pPr>
            <a:r>
              <a:t>Model successfully predicts sales categories with high confidence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Predictive Analysis: Confusion Matrix</a:t>
            </a:r>
          </a:p>
        </p:txBody>
      </p:sp>
      <p:pic>
        <p:nvPicPr>
          <p:cNvPr id="4" name="Picture 3" descr="confusion_matrix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Random Forest: Low false positives and false negatives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Predictive Analysis: ROC Curve</a:t>
            </a:r>
          </a:p>
        </p:txBody>
      </p:sp>
      <p:pic>
        <p:nvPicPr>
          <p:cNvPr id="4" name="Picture 3" descr="roc_curve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AUC = 0.92 indicates excellent model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Predictive Analysis: Feature Importance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Price, GDP, and Advertising are the most important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Interactive Map with Folium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Created interactive map showing sales by city location</a:t>
            </a:r>
          </a:p>
          <a:p>
            <a:pPr>
              <a:spcAft>
                <a:spcPts val="1200"/>
              </a:spcAft>
              <a:defRPr sz="1800"/>
            </a:pPr>
            <a:r>
              <a:t>Features:</a:t>
            </a:r>
          </a:p>
          <a:p>
            <a:pPr>
              <a:spcAft>
                <a:spcPts val="1200"/>
              </a:spcAft>
              <a:defRPr sz="1800"/>
            </a:pPr>
            <a:r>
              <a:t>  • Marker clusters for city grouping</a:t>
            </a:r>
          </a:p>
          <a:p>
            <a:pPr>
              <a:spcAft>
                <a:spcPts val="1200"/>
              </a:spcAft>
              <a:defRPr sz="1800"/>
            </a:pPr>
            <a:r>
              <a:t>  • Color-coded markers (Green: High sales, Red: Low sales)</a:t>
            </a:r>
          </a:p>
          <a:p>
            <a:pPr>
              <a:spcAft>
                <a:spcPts val="1200"/>
              </a:spcAft>
              <a:defRPr sz="1800"/>
            </a:pPr>
            <a:r>
              <a:t>  • Heatmap overlay showing sales intensity</a:t>
            </a:r>
          </a:p>
          <a:p>
            <a:pPr>
              <a:spcAft>
                <a:spcPts val="1200"/>
              </a:spcAft>
              <a:defRPr sz="1800"/>
            </a:pPr>
            <a:r>
              <a:t>  • Popup information: Average sales, Total revenue, Popular vehicle type</a:t>
            </a:r>
          </a:p>
          <a:p>
            <a:pPr>
              <a:spcAft>
                <a:spcPts val="1200"/>
              </a:spcAft>
              <a:defRPr sz="1800"/>
            </a:pPr>
            <a:r>
              <a:t>  • Tooltip showing city name and sales metrics</a:t>
            </a:r>
          </a:p>
          <a:p>
            <a:pPr>
              <a:spcAft>
                <a:spcPts val="1200"/>
              </a:spcAft>
              <a:defRPr sz="1800"/>
            </a:pPr>
            <a:r>
              <a:t>Geographic Insights:</a:t>
            </a:r>
          </a:p>
          <a:p>
            <a:pPr>
              <a:spcAft>
                <a:spcPts val="1200"/>
              </a:spcAft>
              <a:defRPr sz="1800"/>
            </a:pPr>
            <a:r>
              <a:t>  • West Coast cities (LA, SF) show highest sales</a:t>
            </a:r>
          </a:p>
          <a:p>
            <a:pPr>
              <a:spcAft>
                <a:spcPts val="1200"/>
              </a:spcAft>
              <a:defRPr sz="1800"/>
            </a:pPr>
            <a:r>
              <a:t>  • East Coast cities (NY, Boston) follow closely</a:t>
            </a:r>
          </a:p>
          <a:p>
            <a:pPr>
              <a:spcAft>
                <a:spcPts val="1200"/>
              </a:spcAft>
              <a:defRPr sz="1800"/>
            </a:pPr>
            <a:r>
              <a:t>  • Central region shows moderate performance</a:t>
            </a:r>
          </a:p>
          <a:p>
            <a:pPr>
              <a:spcAft>
                <a:spcPts val="1200"/>
              </a:spcAft>
              <a:defRPr sz="1800"/>
            </a:pPr>
            <a:r>
              <a:t>Map saved as HTML: interactive_sales_map.html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Plotly Dash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Interactive web dashboard for real-time data exploration</a:t>
            </a:r>
          </a:p>
          <a:p>
            <a:pPr>
              <a:spcAft>
                <a:spcPts val="1200"/>
              </a:spcAft>
              <a:defRPr sz="1800"/>
            </a:pPr>
            <a:r>
              <a:t>Features:</a:t>
            </a:r>
          </a:p>
          <a:p>
            <a:pPr>
              <a:spcAft>
                <a:spcPts val="1200"/>
              </a:spcAft>
              <a:defRPr sz="1800"/>
            </a:pPr>
            <a:r>
              <a:t>  • Dynamic filtering by Vehicle Type and Region</a:t>
            </a:r>
          </a:p>
          <a:p>
            <a:pPr>
              <a:spcAft>
                <a:spcPts val="1200"/>
              </a:spcAft>
              <a:defRPr sz="1800"/>
            </a:pPr>
            <a:r>
              <a:t>  • Real-time chart updates based on selections</a:t>
            </a:r>
          </a:p>
          <a:p>
            <a:pPr>
              <a:spcAft>
                <a:spcPts val="1200"/>
              </a:spcAft>
              <a:defRPr sz="1800"/>
            </a:pPr>
            <a:r>
              <a:t>  • Multiple visualizations:</a:t>
            </a:r>
          </a:p>
          <a:p>
            <a:pPr>
              <a:spcAft>
                <a:spcPts val="1200"/>
              </a:spcAft>
              <a:defRPr sz="1800"/>
            </a:pPr>
            <a:r>
              <a:t>    - Sales over time (Line chart)</a:t>
            </a:r>
          </a:p>
          <a:p>
            <a:pPr>
              <a:spcAft>
                <a:spcPts val="1200"/>
              </a:spcAft>
              <a:defRPr sz="1800"/>
            </a:pPr>
            <a:r>
              <a:t>    - Sales by vehicle type (Bar chart)</a:t>
            </a:r>
          </a:p>
          <a:p>
            <a:pPr>
              <a:spcAft>
                <a:spcPts val="1200"/>
              </a:spcAft>
              <a:defRPr sz="1800"/>
            </a:pPr>
            <a:r>
              <a:t>    - Sales by season (Bar chart with colors)</a:t>
            </a:r>
          </a:p>
          <a:p>
            <a:pPr>
              <a:spcAft>
                <a:spcPts val="1200"/>
              </a:spcAft>
              <a:defRPr sz="1800"/>
            </a:pPr>
            <a:r>
              <a:t>    - Price vs Sales scatter plot with trendline</a:t>
            </a:r>
          </a:p>
          <a:p>
            <a:pPr>
              <a:spcAft>
                <a:spcPts val="1200"/>
              </a:spcAft>
              <a:defRPr sz="1800"/>
            </a:pPr>
            <a:r>
              <a:t>  • Summary statistics panel (Total records, Avg sales, Revenue)</a:t>
            </a:r>
          </a:p>
          <a:p>
            <a:pPr>
              <a:spcAft>
                <a:spcPts val="1200"/>
              </a:spcAft>
              <a:defRPr sz="1800"/>
            </a:pPr>
            <a:r>
              <a:t>  • Bootstrap styling for professional appearance</a:t>
            </a:r>
          </a:p>
          <a:p>
            <a:pPr>
              <a:spcAft>
                <a:spcPts val="1200"/>
              </a:spcAft>
              <a:defRPr sz="1800"/>
            </a:pPr>
            <a:r>
              <a:t>  • Responsive design</a:t>
            </a:r>
          </a:p>
          <a:p>
            <a:pPr>
              <a:spcAft>
                <a:spcPts val="1200"/>
              </a:spcAft>
              <a:defRPr sz="1800"/>
            </a:pPr>
            <a:r>
              <a:t>Access: Run dashboard_app.py and open http://localhost:8050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Successfully completed comprehensive automotive sales analysis</a:t>
            </a:r>
          </a:p>
          <a:p>
            <a:pPr>
              <a:spcAft>
                <a:spcPts val="1200"/>
              </a:spcAft>
              <a:defRPr sz="1800"/>
            </a:pPr>
            <a:r>
              <a:t>Key Findings:</a:t>
            </a:r>
          </a:p>
          <a:p>
            <a:pPr>
              <a:spcAft>
                <a:spcPts val="1200"/>
              </a:spcAft>
              <a:defRPr sz="1800"/>
            </a:pPr>
            <a:r>
              <a:t>  • Recession periods cause ~40% sales decline</a:t>
            </a:r>
          </a:p>
          <a:p>
            <a:pPr>
              <a:spcAft>
                <a:spcPts val="1200"/>
              </a:spcAft>
              <a:defRPr sz="1800"/>
            </a:pPr>
            <a:r>
              <a:t>  • SUV and Electric vehicles show strongest performance</a:t>
            </a:r>
          </a:p>
          <a:p>
            <a:pPr>
              <a:spcAft>
                <a:spcPts val="1200"/>
              </a:spcAft>
              <a:defRPr sz="1800"/>
            </a:pPr>
            <a:r>
              <a:t>  • Seasonal patterns: Summer peak, Winter low</a:t>
            </a:r>
          </a:p>
          <a:p>
            <a:pPr>
              <a:spcAft>
                <a:spcPts val="1200"/>
              </a:spcAft>
              <a:defRPr sz="1800"/>
            </a:pPr>
            <a:r>
              <a:t>  • Economic indicators (GDP, Unemployment) significantly impact sales</a:t>
            </a:r>
          </a:p>
          <a:p>
            <a:pPr>
              <a:spcAft>
                <a:spcPts val="1200"/>
              </a:spcAft>
              <a:defRPr sz="1800"/>
            </a:pPr>
            <a:r>
              <a:t>  • Advertising expenditure positively correlates with sales</a:t>
            </a:r>
          </a:p>
          <a:p>
            <a:pPr>
              <a:spcAft>
                <a:spcPts val="1200"/>
              </a:spcAft>
              <a:defRPr sz="1800"/>
            </a:pPr>
            <a:r>
              <a:t>Model Performance:</a:t>
            </a:r>
          </a:p>
          <a:p>
            <a:pPr>
              <a:spcAft>
                <a:spcPts val="1200"/>
              </a:spcAft>
              <a:defRPr sz="1800"/>
            </a:pPr>
            <a:r>
              <a:t>  • Random Forest achieves 87.5% accuracy</a:t>
            </a:r>
          </a:p>
          <a:p>
            <a:pPr>
              <a:spcAft>
                <a:spcPts val="1200"/>
              </a:spcAft>
              <a:defRPr sz="1800"/>
            </a:pPr>
            <a:r>
              <a:t>  • High confidence in predicting sales categories</a:t>
            </a:r>
          </a:p>
          <a:p>
            <a:pPr>
              <a:spcAft>
                <a:spcPts val="1200"/>
              </a:spcAft>
              <a:defRPr sz="1800"/>
            </a:pPr>
            <a:r>
              <a:t>Business Recommendations:</a:t>
            </a:r>
          </a:p>
          <a:p>
            <a:pPr>
              <a:spcAft>
                <a:spcPts val="1200"/>
              </a:spcAft>
              <a:defRPr sz="1800"/>
            </a:pPr>
            <a:r>
              <a:t>  • Focus marketing on SUVs and Electric vehicles</a:t>
            </a:r>
          </a:p>
          <a:p>
            <a:pPr>
              <a:spcAft>
                <a:spcPts val="1200"/>
              </a:spcAft>
              <a:defRPr sz="1800"/>
            </a:pPr>
            <a:r>
              <a:t>  • Adjust inventory for seasonal demand</a:t>
            </a:r>
          </a:p>
          <a:p>
            <a:pPr>
              <a:spcAft>
                <a:spcPts val="1200"/>
              </a:spcAft>
              <a:defRPr sz="1800"/>
            </a:pPr>
            <a:r>
              <a:t>  • Increase advertising during recession recovery</a:t>
            </a:r>
          </a:p>
          <a:p>
            <a:pPr>
              <a:spcAft>
                <a:spcPts val="1200"/>
              </a:spcAft>
              <a:defRPr sz="1800"/>
            </a:pPr>
            <a:r>
              <a:t>  • Monitor economic indicators for sales forecasting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Creativity &amp; Innovative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Innovative Approaches:</a:t>
            </a:r>
          </a:p>
          <a:p>
            <a:pPr>
              <a:spcAft>
                <a:spcPts val="1200"/>
              </a:spcAft>
              <a:defRPr sz="1800"/>
            </a:pPr>
            <a:r>
              <a:t>  • Generated realistic synthetic data with complex relationships</a:t>
            </a:r>
          </a:p>
          <a:p>
            <a:pPr>
              <a:spcAft>
                <a:spcPts val="1200"/>
              </a:spcAft>
              <a:defRPr sz="1800"/>
            </a:pPr>
            <a:r>
              <a:t>  • Combined multiple visualization tools (Matplotlib, Plotly, Folium)</a:t>
            </a:r>
          </a:p>
          <a:p>
            <a:pPr>
              <a:spcAft>
                <a:spcPts val="1200"/>
              </a:spcAft>
              <a:defRPr sz="1800"/>
            </a:pPr>
            <a:r>
              <a:t>  • SQL-based EDA for structured data exploration</a:t>
            </a:r>
          </a:p>
          <a:p>
            <a:pPr>
              <a:spcAft>
                <a:spcPts val="1200"/>
              </a:spcAft>
              <a:defRPr sz="1800"/>
            </a:pPr>
            <a:r>
              <a:t>  • Interactive dashboards for stakeholder engagement</a:t>
            </a:r>
          </a:p>
          <a:p>
            <a:pPr>
              <a:spcAft>
                <a:spcPts val="1200"/>
              </a:spcAft>
              <a:defRPr sz="1800"/>
            </a:pPr>
            <a:r>
              <a:t>Unique Insights:</a:t>
            </a:r>
          </a:p>
          <a:p>
            <a:pPr>
              <a:spcAft>
                <a:spcPts val="1200"/>
              </a:spcAft>
              <a:defRPr sz="1800"/>
            </a:pPr>
            <a:r>
              <a:t>  • Economic Index composite metric (GDP + Unemployment)</a:t>
            </a:r>
          </a:p>
          <a:p>
            <a:pPr>
              <a:spcAft>
                <a:spcPts val="1200"/>
              </a:spcAft>
              <a:defRPr sz="1800"/>
            </a:pPr>
            <a:r>
              <a:t>  • Geographic heatmap reveals regional sales patterns</a:t>
            </a:r>
          </a:p>
          <a:p>
            <a:pPr>
              <a:spcAft>
                <a:spcPts val="1200"/>
              </a:spcAft>
              <a:defRPr sz="1800"/>
            </a:pPr>
            <a:r>
              <a:t>  • Feature importance analysis guides business decisions</a:t>
            </a:r>
          </a:p>
          <a:p>
            <a:pPr>
              <a:spcAft>
                <a:spcPts val="1200"/>
              </a:spcAft>
              <a:defRPr sz="1800"/>
            </a:pPr>
            <a:r>
              <a:t>  • Year-over-year growth analysis identifies trends</a:t>
            </a:r>
          </a:p>
          <a:p>
            <a:pPr>
              <a:spcAft>
                <a:spcPts val="1200"/>
              </a:spcAft>
              <a:defRPr sz="1800"/>
            </a:pPr>
            <a:r>
              <a:t>Technical Innovation:</a:t>
            </a:r>
          </a:p>
          <a:p>
            <a:pPr>
              <a:spcAft>
                <a:spcPts val="1200"/>
              </a:spcAft>
              <a:defRPr sz="1800"/>
            </a:pPr>
            <a:r>
              <a:t>  • Comprehensive project structure (notebooks, scripts, data, images)</a:t>
            </a:r>
          </a:p>
          <a:p>
            <a:pPr>
              <a:spcAft>
                <a:spcPts val="1200"/>
              </a:spcAft>
              <a:defRPr sz="1800"/>
            </a:pPr>
            <a:r>
              <a:t>  • Modular code design for maintainability</a:t>
            </a:r>
          </a:p>
          <a:p>
            <a:pPr>
              <a:spcAft>
                <a:spcPts val="1200"/>
              </a:spcAft>
              <a:defRPr sz="1800"/>
            </a:pPr>
            <a:r>
              <a:t>  • Automated presentation generation</a:t>
            </a:r>
          </a:p>
          <a:p>
            <a:pPr>
              <a:spcAft>
                <a:spcPts val="1200"/>
              </a:spcAft>
              <a:defRPr sz="1800"/>
            </a:pPr>
            <a:r>
              <a:t>  • Ready-to-submit GitHub repository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